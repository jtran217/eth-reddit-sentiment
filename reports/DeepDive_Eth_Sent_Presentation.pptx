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3" r:id="rId4"/>
  </p:sldMasterIdLst>
  <p:notesMasterIdLst>
    <p:notesMasterId r:id="rId17"/>
  </p:notesMasterIdLst>
  <p:handoutMasterIdLst>
    <p:handoutMasterId r:id="rId18"/>
  </p:handoutMasterIdLst>
  <p:sldIdLst>
    <p:sldId id="1519" r:id="rId5"/>
    <p:sldId id="1520" r:id="rId6"/>
    <p:sldId id="1499" r:id="rId7"/>
    <p:sldId id="1515" r:id="rId8"/>
    <p:sldId id="1521" r:id="rId9"/>
    <p:sldId id="1524" r:id="rId10"/>
    <p:sldId id="1525" r:id="rId11"/>
    <p:sldId id="1502" r:id="rId12"/>
    <p:sldId id="1517" r:id="rId13"/>
    <p:sldId id="1522" r:id="rId14"/>
    <p:sldId id="1511" r:id="rId15"/>
    <p:sldId id="151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03" autoAdjust="0"/>
    <p:restoredTop sz="94618"/>
  </p:normalViewPr>
  <p:slideViewPr>
    <p:cSldViewPr snapToGrid="0">
      <p:cViewPr varScale="1">
        <p:scale>
          <a:sx n="105" d="100"/>
          <a:sy n="105" d="100"/>
        </p:scale>
        <p:origin x="8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2/20/2026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9T19:25:25.32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3249 1 24575,'-15'2'0,"0"1"0,0 0 0,0 1 0,0 1 0,1 0 0,-17 9 0,17-8 0,-70 36 0,62-29 0,0-2 0,-1 0 0,-47 14 0,-20 2 0,-23 5 0,-21 5 0,38-8 0,-142 38 0,162-45 0,-88 30 0,9 22 0,65-50 0,67-19 0,0 1 0,-37 14 0,-43 22 0,59-26 0,-83 43 0,97-43 0,-63 22 0,60-26 0,-55 29 0,-47 28 0,113-58 0,-1 0 0,-1-2 0,1 0 0,-1-2 0,-26 5 0,28-7 0,-1 0 0,2 1 0,-1 2 0,1 0 0,0 1 0,-28 18 0,31-17 0,0 0 0,0-2 0,-1 0 0,0-1 0,-21 5 0,17-5 0,1 0 0,0 1 0,-29 16 0,13-4 0,0-2 0,-49 16 0,43-18 0,-61 31 0,34-19-1365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9T19:25:27.029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2 24575,'99'-2'0,"108"4"0,-188 1 0,-1 1 0,-1 1 0,1 0 0,23 11 0,24 7 0,175 63 0,-201-70 0,18 3 0,0-2 0,65 10 0,50 14 0,-40-6 0,-71-21 0,75 29 0,-85-25 0,-30-11 0,0 1 0,34 17 0,-12-3 0,1-2 0,60 19 0,18 7 0,7-2 0,-96-35 0,-1 1 0,0 2 0,52 27 0,53 30 0,-56-30 0,-38-20 0,0-2 0,51 12 0,-48-15 0,80 34 0,-65-16 0,-38-19 0,1-1 0,1 0 0,0-2 0,51 14 0,-30-13 0,75 31 0,15 3 0,-110-37 0,-1 2 0,35 16 0,33 13 0,85 13-1365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2/20/2026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4900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5109526"/>
            <a:ext cx="10923936" cy="641279"/>
          </a:xfrm>
        </p:spPr>
        <p:txBody>
          <a:bodyPr anchor="b">
            <a:noAutofit/>
          </a:bodyPr>
          <a:lstStyle>
            <a:lvl1pPr algn="l">
              <a:defRPr sz="5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7" name="Subtitle 2">
            <a:extLst>
              <a:ext uri="{FF2B5EF4-FFF2-40B4-BE49-F238E27FC236}">
                <a16:creationId xmlns:a16="http://schemas.microsoft.com/office/drawing/2014/main" id="{CDE85611-F29A-5B31-8523-08B6A1185C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5811724"/>
            <a:ext cx="10923936" cy="40929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 t="-40" b="-40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700589" y="6212217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C7524BB-F0A6-4140-A8AB-1C8A7E34AB03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009325" y="6221013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780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/>
          <a:p>
            <a:fld id="{7E574385-C0BA-734A-92FC-17834D8EB701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7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4096" y="1016954"/>
            <a:ext cx="4306487" cy="3345811"/>
          </a:xfrm>
        </p:spPr>
        <p:txBody>
          <a:bodyPr anchor="b">
            <a:noAutofit/>
          </a:bodyPr>
          <a:lstStyle>
            <a:lvl1pPr algn="l"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4095" y="4743765"/>
            <a:ext cx="4333869" cy="147923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 l="-32" r="-32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24097" y="0"/>
            <a:ext cx="244791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5846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6C3E8657-ED4F-2349-80D5-3F1287888601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253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30" y="1001715"/>
            <a:ext cx="4714880" cy="3360095"/>
          </a:xfrm>
        </p:spPr>
        <p:txBody>
          <a:bodyPr anchor="t">
            <a:noAutofit/>
          </a:bodyPr>
          <a:lstStyle>
            <a:lvl1pPr algn="l"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30" y="4728526"/>
            <a:ext cx="4714880" cy="14944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34030" y="3586"/>
            <a:ext cx="315476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845379" y="3586"/>
            <a:ext cx="89831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DAA7185-3F7E-9249-BB9E-706C38E229BC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00270" y="3586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4576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011936"/>
            <a:ext cx="7538425" cy="3172503"/>
          </a:xfrm>
        </p:spPr>
        <p:txBody>
          <a:bodyPr anchor="t">
            <a:normAutofit/>
          </a:bodyPr>
          <a:lstStyle>
            <a:lvl1pPr algn="l">
              <a:lnSpc>
                <a:spcPct val="90000"/>
              </a:lnSpc>
              <a:defRPr sz="6000" u="sng" cap="all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7" y="4728525"/>
            <a:ext cx="7538425" cy="1494475"/>
          </a:xfrm>
        </p:spPr>
        <p:txBody>
          <a:bodyPr anchor="b">
            <a:normAutofit/>
          </a:bodyPr>
          <a:lstStyle>
            <a:lvl1pPr marL="0" indent="0" algn="l">
              <a:lnSpc>
                <a:spcPct val="75000"/>
              </a:lnSpc>
              <a:spcBef>
                <a:spcPts val="0"/>
              </a:spcBef>
              <a:spcAft>
                <a:spcPts val="600"/>
              </a:spcAft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fld id="{99A48728-1D9C-2F4B-9F0A-BC2AEDF455B4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0794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1011936"/>
            <a:ext cx="8095016" cy="3335590"/>
          </a:xfrm>
        </p:spPr>
        <p:txBody>
          <a:bodyPr anchor="b">
            <a:normAutofit/>
          </a:bodyPr>
          <a:lstStyle>
            <a:lvl1pPr algn="l">
              <a:defRPr sz="60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4728526"/>
            <a:ext cx="8095015" cy="1117538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5FDA9-B56F-3D40-BA5C-830FD973E5D1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8958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33602" y="1011936"/>
            <a:ext cx="7924802" cy="3350830"/>
          </a:xfrm>
        </p:spPr>
        <p:txBody>
          <a:bodyPr anchor="b">
            <a:normAutofit/>
          </a:bodyPr>
          <a:lstStyle>
            <a:lvl1pPr algn="ctr">
              <a:defRPr sz="60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3602" y="4728526"/>
            <a:ext cx="7924801" cy="1117538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04B425-AD26-2748-9379-4D52F1178C82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856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2AC2E79-609C-0D1A-9B21-608288E7C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 anchor="b">
            <a:normAutofit/>
          </a:bodyPr>
          <a:lstStyle>
            <a:lvl1pPr algn="l">
              <a:defRPr sz="75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03C4BE1-6BC7-07DF-D465-C3B7FD2F9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b="1" i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502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2AC2E79-609C-0D1A-9B21-608288E7C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 anchor="b">
            <a:normAutofit/>
          </a:bodyPr>
          <a:lstStyle>
            <a:lvl1pPr algn="l">
              <a:defRPr sz="75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03C4BE1-6BC7-07DF-D465-C3B7FD2F9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b="1" i="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677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 anchor="b">
            <a:normAutofit/>
          </a:bodyPr>
          <a:lstStyle>
            <a:lvl1pPr algn="l"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5051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 anchor="b">
            <a:normAutofit/>
          </a:bodyPr>
          <a:lstStyle>
            <a:lvl1pPr algn="l"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7587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lcom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5652464" cy="2613336"/>
          </a:xfrm>
        </p:spPr>
        <p:txBody>
          <a:bodyPr anchor="b">
            <a:noAutofit/>
          </a:bodyPr>
          <a:lstStyle>
            <a:lvl1pPr>
              <a:defRPr sz="6000" u="sng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F2758A-C3D6-E84B-B3E9-757EFEF52D55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3996050"/>
            <a:ext cx="5652464" cy="222695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2pPr>
            <a:lvl3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3pPr>
            <a:lvl4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4pPr>
            <a:lvl5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8" name="Picture Placeholder 7">
            <a:extLst>
              <a:ext uri="{FF2B5EF4-FFF2-40B4-BE49-F238E27FC236}">
                <a16:creationId xmlns:a16="http://schemas.microsoft.com/office/drawing/2014/main" id="{DEE8CE2C-7AFC-E265-19EB-F76884D599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43095" y="630936"/>
            <a:ext cx="4714870" cy="5592064"/>
          </a:xfrm>
          <a:blipFill dpi="0" rotWithShape="1">
            <a:blip r:embed="rId2">
              <a:alphaModFix amt="60000"/>
            </a:blip>
            <a:srcRect/>
            <a:stretch>
              <a:fillRect l="-40" r="-40"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7910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001715"/>
            <a:ext cx="4663440" cy="2241233"/>
          </a:xfrm>
        </p:spPr>
        <p:txBody>
          <a:bodyPr anchor="t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60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43095" y="0"/>
            <a:ext cx="282891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7112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EEECD8D-53A7-3A4F-8909-5ECB0FEF37FB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3623950"/>
            <a:ext cx="4663440" cy="2539106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2438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2129475"/>
            <a:ext cx="4719430" cy="2599051"/>
          </a:xfrm>
        </p:spPr>
        <p:txBody>
          <a:bodyPr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07E3B5C-D099-9543-A57D-129299D311F4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3095" y="2129475"/>
            <a:ext cx="4158283" cy="2599051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893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748474"/>
            <a:ext cx="4328498" cy="3726812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DDB5BF-28B0-5C4D-A64A-E611B8C77204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748473"/>
            <a:ext cx="6209053" cy="372681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17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381759"/>
            <a:ext cx="4347849" cy="4841241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82B860-5E2A-1340-A6D3-E276E55F2222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381759"/>
            <a:ext cx="6209054" cy="484124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2883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001715"/>
            <a:ext cx="4347850" cy="4855526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8676C7A-4B29-7743-AB3A-5EEF28262A7C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001715"/>
            <a:ext cx="6209053" cy="485552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5749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2" y="1001715"/>
            <a:ext cx="3385529" cy="5221285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7826AE1-158D-A74A-A5C8-25E57C484C69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05935" y="1001715"/>
            <a:ext cx="7152029" cy="522128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61736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10923935" cy="1127760"/>
          </a:xfrm>
        </p:spPr>
        <p:txBody>
          <a:bodyPr>
            <a:noAutofit/>
          </a:bodyPr>
          <a:lstStyle>
            <a:lvl1pPr>
              <a:defRPr sz="6000" u="sng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1EC562-4E50-D34B-8F39-5DD0D018EB66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2495234"/>
            <a:ext cx="10923935" cy="372776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7858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11936"/>
            <a:ext cx="8481400" cy="1484254"/>
          </a:xfrm>
        </p:spPr>
        <p:txBody>
          <a:bodyPr anchor="t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EDD5DD5-92AA-6440-87DE-277C532BE8AC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9" y="2877190"/>
            <a:ext cx="8481400" cy="334581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>
                <a:solidFill>
                  <a:schemeClr val="tx1"/>
                </a:solidFill>
              </a:defRPr>
            </a:lvl1pPr>
            <a:lvl2pPr marL="685800" indent="-457200"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4pPr>
            <a:lvl5pPr marL="12573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8270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8911" y="1001714"/>
            <a:ext cx="6209053" cy="1122374"/>
          </a:xfrm>
        </p:spPr>
        <p:txBody>
          <a:bodyPr anchor="t"/>
          <a:lstStyle>
            <a:lvl1pPr>
              <a:defRPr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43096" y="0"/>
            <a:ext cx="282891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700589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3C78A78-9BD4-2540-9BAB-27AD9352B454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90490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8911" y="2496189"/>
            <a:ext cx="6209053" cy="372681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5385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4"/>
            <a:ext cx="6209066" cy="1121419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34028" y="0"/>
            <a:ext cx="318134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59766" y="0"/>
            <a:ext cx="896113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B5BCBD1-B884-5B4C-ACE8-81AA2A39E888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800270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8" y="2495234"/>
            <a:ext cx="6209066" cy="372776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62823" y="0"/>
            <a:ext cx="492917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77176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5936" y="1001714"/>
            <a:ext cx="7152028" cy="1122374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1954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71664" y="0"/>
            <a:ext cx="2800349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700589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61CBF7-6530-194B-9FC2-12E7E7738880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5936" y="2496189"/>
            <a:ext cx="7152028" cy="37268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2636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4"/>
            <a:ext cx="6587506" cy="1112519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8" y="2495234"/>
            <a:ext cx="6595451" cy="372776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34028" y="0"/>
            <a:ext cx="3177059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48478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FA5E271-D672-F147-B371-ABF5E56F00EC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800269" y="0"/>
            <a:ext cx="548641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72454" y="0"/>
            <a:ext cx="401954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457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3095" y="1019803"/>
            <a:ext cx="4714869" cy="1109672"/>
          </a:xfrm>
        </p:spPr>
        <p:txBody>
          <a:bodyPr anchor="t"/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43095" y="0"/>
            <a:ext cx="282891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0581" y="0"/>
            <a:ext cx="91440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CC79DE5A-E0D1-2647-9D82-FBDAE5DFB807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43095" y="2514279"/>
            <a:ext cx="4714869" cy="370872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004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5"/>
            <a:ext cx="4714881" cy="1108746"/>
          </a:xfrm>
        </p:spPr>
        <p:txBody>
          <a:bodyPr anchor="t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515204"/>
            <a:ext cx="4714881" cy="37077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80540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30190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E69D102-A2FD-8743-85DB-14F8D0C32AC3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00270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3333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3095" y="1011935"/>
            <a:ext cx="4714869" cy="1112153"/>
          </a:xfrm>
        </p:spPr>
        <p:txBody>
          <a:bodyPr anchor="b"/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3237" y="0"/>
            <a:ext cx="283687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87910" y="0"/>
            <a:ext cx="92708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9F1854-4AF0-ED49-AE83-182A816927B5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9" y="630936"/>
            <a:ext cx="5652469" cy="559206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61021" y="2496190"/>
            <a:ext cx="4696943" cy="37268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390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1001714"/>
            <a:ext cx="4714880" cy="1121417"/>
          </a:xfrm>
        </p:spPr>
        <p:txBody>
          <a:bodyPr anchor="t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80540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48478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E8F57D1-DD5E-4E44-98C5-7D5639D55A57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00269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2495233"/>
            <a:ext cx="4736136" cy="372776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564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2454" y="992921"/>
            <a:ext cx="3385510" cy="1117539"/>
          </a:xfrm>
        </p:spPr>
        <p:txBody>
          <a:bodyPr anchor="t">
            <a:no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172454" y="0"/>
            <a:ext cx="1735843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911643" y="0"/>
            <a:ext cx="700007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DB83C81-A524-F840-ABC9-B6BB50E4A13C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3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2454" y="2515204"/>
            <a:ext cx="3385510" cy="37077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6502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5"/>
            <a:ext cx="3380187" cy="1108746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0837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23140" y="0"/>
            <a:ext cx="716293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BA8DA53-5E6D-4942-B673-3E50E3C9DB93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465575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491461"/>
            <a:ext cx="3380313" cy="373153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9903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2454" y="994222"/>
            <a:ext cx="3385510" cy="1882967"/>
          </a:xfrm>
        </p:spPr>
        <p:txBody>
          <a:bodyPr anchor="b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72455" y="0"/>
            <a:ext cx="1735844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16244" y="0"/>
            <a:ext cx="695406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BA35C60-A52E-0F44-95C1-79561B62B391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34" name="Slide Number Placeholder 9">
            <a:extLst>
              <a:ext uri="{FF2B5EF4-FFF2-40B4-BE49-F238E27FC236}">
                <a16:creationId xmlns:a16="http://schemas.microsoft.com/office/drawing/2014/main" id="{64F22B5B-7B07-4638-1ED2-E13EDE05C19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2454" y="3251766"/>
            <a:ext cx="3385510" cy="2971234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228600" indent="0">
              <a:buNone/>
              <a:defRPr sz="1400">
                <a:solidFill>
                  <a:schemeClr val="tx1"/>
                </a:solidFill>
              </a:defRPr>
            </a:lvl2pPr>
            <a:lvl3pPr marL="457200" indent="0">
              <a:buNone/>
              <a:defRPr sz="1200">
                <a:solidFill>
                  <a:schemeClr val="tx1"/>
                </a:solidFill>
              </a:defRPr>
            </a:lvl3pPr>
            <a:lvl4pPr marL="685800" indent="0">
              <a:buNone/>
              <a:defRPr sz="1100">
                <a:solidFill>
                  <a:schemeClr val="tx1"/>
                </a:solidFill>
              </a:defRPr>
            </a:lvl4pPr>
            <a:lvl5pPr marL="914400" indent="0">
              <a:buNone/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6740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5100628"/>
            <a:ext cx="4328498" cy="1122373"/>
          </a:xfrm>
        </p:spPr>
        <p:txBody>
          <a:bodyPr anchor="t">
            <a:no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72852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100627"/>
            <a:ext cx="6208724" cy="1122373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buFont typeface="Arial" panose="020B0604020202020204" pitchFamily="34" charset="0"/>
              <a:buNone/>
              <a:defRPr sz="1200">
                <a:solidFill>
                  <a:schemeClr val="bg1"/>
                </a:solidFill>
              </a:defRPr>
            </a:lvl3pPr>
            <a:lvl4pPr marL="685800" indent="0"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</a:defRPr>
            </a:lvl4pPr>
            <a:lvl5pPr marL="914400" indent="0">
              <a:buFont typeface="Arial" panose="020B0604020202020204" pitchFamily="34" charset="0"/>
              <a:buNone/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6211605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5E8027-836D-F64B-BBF7-A246E67FE0A3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6211605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49818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4353866"/>
            <a:ext cx="2828932" cy="1869134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4353866"/>
            <a:ext cx="7538412" cy="1869134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3pPr>
            <a:lvl4pPr marL="85725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1085850" indent="-171450">
              <a:buFont typeface="Arial" panose="020B0604020202020204" pitchFamily="34" charset="0"/>
              <a:buChar char="•"/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6211605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D38C6B-BFF0-FA48-8F70-77BDD72A014D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6211605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72022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27443"/>
            <a:ext cx="2828926" cy="1826790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634999"/>
            <a:ext cx="7538412" cy="1861191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3pPr>
            <a:lvl4pPr marL="85725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1085850" indent="-171450">
              <a:buFont typeface="Arial" panose="020B0604020202020204" pitchFamily="34" charset="0"/>
              <a:buChar char="•"/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2805405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0AF01B-D893-9C4D-8AB8-7E6079CED5E9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82580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1011936"/>
            <a:ext cx="10945318" cy="745437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74623E1-10D5-C048-8991-E2228A964ED1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2129474"/>
            <a:ext cx="6230450" cy="40935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4097" y="2129474"/>
            <a:ext cx="4333867" cy="41281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90392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5"/>
            <a:ext cx="4714881" cy="1121418"/>
          </a:xfrm>
        </p:spPr>
        <p:txBody>
          <a:bodyPr>
            <a:normAutofit/>
          </a:bodyPr>
          <a:lstStyle>
            <a:lvl1pPr>
              <a:defRPr sz="36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DB6E09-373C-2841-960E-B24A18A7C55D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8" y="2495234"/>
            <a:ext cx="4706938" cy="372776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86499" y="1001715"/>
            <a:ext cx="5292853" cy="522128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1538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996695"/>
            <a:ext cx="3771907" cy="1126438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CB72DF-080D-4042-863C-D2B08AB5E1E8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9" y="2495234"/>
            <a:ext cx="3717934" cy="372776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2" y="1005779"/>
            <a:ext cx="6615116" cy="53029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61859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6" y="4531056"/>
            <a:ext cx="6209067" cy="1691943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C5D9B6A-47DB-D845-97C7-9775E46E650D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7" y="630937"/>
            <a:ext cx="6209067" cy="350433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9479" y="630937"/>
            <a:ext cx="4328485" cy="5592064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2pPr>
            <a:lvl3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3pPr>
            <a:lvl4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4pPr>
            <a:lvl5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08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15" y="5109526"/>
            <a:ext cx="6209079" cy="1113474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2" y="1011935"/>
            <a:ext cx="10923942" cy="3716591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8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5678024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3" y="5109526"/>
            <a:ext cx="7916856" cy="111347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5"/>
            <a:ext cx="10923935" cy="3716591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8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37487662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3" y="5109526"/>
            <a:ext cx="7916856" cy="124555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6"/>
            <a:ext cx="10923935" cy="3665730"/>
          </a:xfrm>
        </p:spPr>
        <p:txBody>
          <a:bodyPr anchor="t">
            <a:noAutofit/>
          </a:bodyPr>
          <a:lstStyle>
            <a:lvl1pPr marL="0" indent="0" algn="ctr">
              <a:lnSpc>
                <a:spcPct val="90000"/>
              </a:lnSpc>
              <a:buNone/>
              <a:defRPr sz="28000" b="0" i="0" u="sng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3354092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4508" y="1001715"/>
            <a:ext cx="3393455" cy="5221285"/>
          </a:xfrm>
        </p:spPr>
        <p:txBody>
          <a:bodyPr anchor="b">
            <a:normAutofit/>
          </a:bodyPr>
          <a:lstStyle>
            <a:lvl1pPr algn="l">
              <a:lnSpc>
                <a:spcPct val="110000"/>
              </a:lnSpc>
              <a:defRPr sz="2000" b="1" i="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40964"/>
            <a:ext cx="7144095" cy="5846064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28000" b="0" i="0" u="sng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1478165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4508" y="1001715"/>
            <a:ext cx="3393455" cy="5221285"/>
          </a:xfrm>
        </p:spPr>
        <p:txBody>
          <a:bodyPr anchor="b">
            <a:normAutofit/>
          </a:bodyPr>
          <a:lstStyle>
            <a:lvl1pPr algn="l">
              <a:lnSpc>
                <a:spcPct val="110000"/>
              </a:lnSpc>
              <a:defRPr sz="2000" b="1" i="0" u="none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40964"/>
            <a:ext cx="7144095" cy="5846064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28000" b="0" i="0" u="sng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6726619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795663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A2AD571-8A42-FC4D-8DD1-0DD76ABF057B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1001715"/>
            <a:ext cx="8502777" cy="5221286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 u="sng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800" b="1" u="sng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400" b="1" u="sng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4000" b="1" u="sng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600" b="1" u="sng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89875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7007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3F588B4-CB59-614E-93AB-9F331D0D8D83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764792"/>
            <a:ext cx="8481400" cy="4458208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0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295408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8912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A8851A9-1959-C54C-A050-24BB5C598FE4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6"/>
            <a:ext cx="8481400" cy="521106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0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2685041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8912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432BBD40-9FB7-E148-AC1B-3919D230BEB1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8" y="1011936"/>
            <a:ext cx="9074511" cy="5211064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6000" b="1" i="0" u="sng">
                <a:solidFill>
                  <a:schemeClr val="accent1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400" b="1" i="0">
                <a:solidFill>
                  <a:schemeClr val="accent1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000" b="1" i="0">
                <a:solidFill>
                  <a:schemeClr val="accent1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1" i="0">
                <a:solidFill>
                  <a:schemeClr val="accent1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200" b="1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0430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77005" y="5475284"/>
            <a:ext cx="9037984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B7B831F-0525-DF47-A6D2-509FE238C6D0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77004" y="1005779"/>
            <a:ext cx="9037985" cy="4103745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06903786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9066" y="5475285"/>
            <a:ext cx="9045923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3EBDBC-CFAC-9946-A2F3-D6402690E4D2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9066" y="1001715"/>
            <a:ext cx="9053874" cy="4107810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6334030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28" y="5475285"/>
            <a:ext cx="9074512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542C378-8FD2-C449-B7AA-6F7022066293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8" y="1011936"/>
            <a:ext cx="9037985" cy="371659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81588254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640203"/>
            <a:ext cx="10923934" cy="1099006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5AA9746-49E3-1D49-A044-597FC2272B5D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2120209"/>
            <a:ext cx="10923935" cy="4102791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6476062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1001715"/>
            <a:ext cx="10923934" cy="747715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55AA9746-49E3-1D49-A044-597FC2272B5D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2120209"/>
            <a:ext cx="10923935" cy="4102791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5872294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774" y="1010613"/>
            <a:ext cx="10945189" cy="746759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7BE2A0-CBC1-A842-B334-0B3B571BCC28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28" y="2129474"/>
            <a:ext cx="5271473" cy="40935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83941" y="2129475"/>
            <a:ext cx="5274021" cy="409352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374277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10614"/>
            <a:ext cx="10923934" cy="746760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4D687F-3261-A345-B9E7-76DD0579BB9D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028" y="2120575"/>
            <a:ext cx="5271474" cy="37561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3940" y="2120575"/>
            <a:ext cx="5274023" cy="37561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28" y="2877190"/>
            <a:ext cx="5266092" cy="334581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86500" y="2877190"/>
            <a:ext cx="5271464" cy="334581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462334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11936"/>
            <a:ext cx="10923935" cy="1865254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5C9DF99-DDC2-894B-B2EC-BE93B405C6CB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758173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7E1AAE6-D11F-2F46-A437-EC693200CDD7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33077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996695"/>
            <a:ext cx="3763961" cy="1314426"/>
          </a:xfrm>
        </p:spPr>
        <p:txBody>
          <a:bodyPr anchor="t">
            <a:normAutofit/>
          </a:bodyPr>
          <a:lstStyle>
            <a:lvl1pPr>
              <a:defRPr sz="28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95903C-EDC1-ED4F-958F-696903391605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4028" y="2495234"/>
            <a:ext cx="3763961" cy="3727766"/>
          </a:xfrm>
        </p:spPr>
        <p:txBody>
          <a:bodyPr anchor="t"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474" y="1005779"/>
            <a:ext cx="6604492" cy="5217221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 sz="24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850554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30936"/>
            <a:ext cx="3793283" cy="2246253"/>
          </a:xfrm>
        </p:spPr>
        <p:txBody>
          <a:bodyPr anchor="t">
            <a:normAutofit/>
          </a:bodyPr>
          <a:lstStyle>
            <a:lvl1pPr>
              <a:defRPr sz="28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DC713B-25C9-B74A-9BBC-A695A5E98312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4021" y="3242949"/>
            <a:ext cx="3763969" cy="3017826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2523" y="630937"/>
            <a:ext cx="6616830" cy="5592064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649805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982085"/>
            <a:ext cx="7538425" cy="1895105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D5279E-0E3B-B54D-9B59-E121D9B3AFDB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8" y="3242949"/>
            <a:ext cx="10923935" cy="2980051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23946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8481400" cy="1852292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C9E747C-1B1C-1345-96BA-B9E64C23A7BC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3614097"/>
            <a:ext cx="8481400" cy="1861187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228600" indent="0">
              <a:buNone/>
              <a:defRPr sz="2000">
                <a:solidFill>
                  <a:schemeClr val="tx1"/>
                </a:solidFill>
              </a:defRPr>
            </a:lvl2pPr>
            <a:lvl3pPr marL="457200" indent="0">
              <a:buNone/>
              <a:defRPr sz="1800">
                <a:solidFill>
                  <a:schemeClr val="tx1"/>
                </a:solidFill>
              </a:defRPr>
            </a:lvl3pPr>
            <a:lvl4pPr marL="685800" indent="0">
              <a:buNone/>
              <a:defRPr sz="16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1228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7731038" cy="3346766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09DA23C4-A9FB-DB4A-B7DD-A0A5161EF3E0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5109526"/>
            <a:ext cx="6595450" cy="1113474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1pPr>
            <a:lvl2pPr marL="2286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2pPr>
            <a:lvl3pPr marL="4572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3pPr>
            <a:lvl4pPr marL="6858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4pPr>
            <a:lvl5pPr marL="9144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60278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10923935" cy="14944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08540" y="0"/>
            <a:ext cx="91440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  <a:latin typeface="+mj-lt"/>
              </a:defRPr>
            </a:lvl1pPr>
          </a:lstStyle>
          <a:p>
            <a:fld id="{D90E5A07-4FDA-D34C-BE60-17876FEEBAA5}" type="datetime1">
              <a:rPr lang="en-US" smtClean="0"/>
              <a:pPr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4029" y="0"/>
            <a:ext cx="365760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9324" y="0"/>
            <a:ext cx="54864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bg1"/>
                </a:solidFill>
                <a:latin typeface="+mj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029" y="2877190"/>
            <a:ext cx="10923935" cy="3345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973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75" r:id="rId2"/>
    <p:sldLayoutId id="2147483776" r:id="rId3"/>
    <p:sldLayoutId id="2147483777" r:id="rId4"/>
    <p:sldLayoutId id="2147483779" r:id="rId5"/>
    <p:sldLayoutId id="2147483780" r:id="rId6"/>
    <p:sldLayoutId id="2147483781" r:id="rId7"/>
    <p:sldLayoutId id="2147483782" r:id="rId8"/>
    <p:sldLayoutId id="2147483832" r:id="rId9"/>
    <p:sldLayoutId id="2147483783" r:id="rId10"/>
    <p:sldLayoutId id="2147483833" r:id="rId11"/>
    <p:sldLayoutId id="2147483784" r:id="rId12"/>
    <p:sldLayoutId id="2147483785" r:id="rId13"/>
    <p:sldLayoutId id="2147483786" r:id="rId14"/>
    <p:sldLayoutId id="2147483787" r:id="rId15"/>
    <p:sldLayoutId id="2147483788" r:id="rId16"/>
    <p:sldLayoutId id="2147483789" r:id="rId17"/>
    <p:sldLayoutId id="2147483790" r:id="rId18"/>
    <p:sldLayoutId id="2147483791" r:id="rId19"/>
    <p:sldLayoutId id="2147483792" r:id="rId20"/>
    <p:sldLayoutId id="2147483793" r:id="rId21"/>
    <p:sldLayoutId id="2147483794" r:id="rId22"/>
    <p:sldLayoutId id="2147483795" r:id="rId23"/>
    <p:sldLayoutId id="2147483796" r:id="rId24"/>
    <p:sldLayoutId id="2147483797" r:id="rId25"/>
    <p:sldLayoutId id="2147483798" r:id="rId26"/>
    <p:sldLayoutId id="2147483799" r:id="rId27"/>
    <p:sldLayoutId id="2147483800" r:id="rId28"/>
    <p:sldLayoutId id="2147483801" r:id="rId29"/>
    <p:sldLayoutId id="2147483802" r:id="rId30"/>
    <p:sldLayoutId id="2147483803" r:id="rId31"/>
    <p:sldLayoutId id="2147483804" r:id="rId32"/>
    <p:sldLayoutId id="2147483805" r:id="rId33"/>
    <p:sldLayoutId id="2147483806" r:id="rId34"/>
    <p:sldLayoutId id="2147483807" r:id="rId35"/>
    <p:sldLayoutId id="2147483808" r:id="rId36"/>
    <p:sldLayoutId id="2147483809" r:id="rId37"/>
    <p:sldLayoutId id="2147483810" r:id="rId38"/>
    <p:sldLayoutId id="2147483811" r:id="rId39"/>
    <p:sldLayoutId id="2147483812" r:id="rId40"/>
    <p:sldLayoutId id="2147483813" r:id="rId41"/>
    <p:sldLayoutId id="2147483814" r:id="rId42"/>
    <p:sldLayoutId id="2147483834" r:id="rId43"/>
    <p:sldLayoutId id="2147483815" r:id="rId44"/>
    <p:sldLayoutId id="2147483816" r:id="rId45"/>
    <p:sldLayoutId id="2147483817" r:id="rId46"/>
    <p:sldLayoutId id="2147483818" r:id="rId47"/>
    <p:sldLayoutId id="2147483819" r:id="rId48"/>
    <p:sldLayoutId id="2147483820" r:id="rId49"/>
    <p:sldLayoutId id="2147483821" r:id="rId50"/>
    <p:sldLayoutId id="2147483822" r:id="rId51"/>
    <p:sldLayoutId id="2147483835" r:id="rId52"/>
    <p:sldLayoutId id="2147483823" r:id="rId53"/>
    <p:sldLayoutId id="2147483824" r:id="rId54"/>
    <p:sldLayoutId id="2147483825" r:id="rId55"/>
    <p:sldLayoutId id="2147483826" r:id="rId56"/>
    <p:sldLayoutId id="2147483827" r:id="rId57"/>
    <p:sldLayoutId id="2147483828" r:id="rId58"/>
    <p:sldLayoutId id="2147483829" r:id="rId59"/>
    <p:sldLayoutId id="2147483830" r:id="rId60"/>
    <p:sldLayoutId id="2147483831" r:id="rId6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b="1" u="sng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4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8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1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7.xml"/><Relationship Id="rId6" Type="http://schemas.openxmlformats.org/officeDocument/2006/relationships/image" Target="../media/image28.png"/><Relationship Id="rId5" Type="http://schemas.openxmlformats.org/officeDocument/2006/relationships/customXml" Target="../ink/ink2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2608C23-AAC7-24F5-F2C0-159F3F981C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>
            <a:normAutofit/>
          </a:bodyPr>
          <a:lstStyle/>
          <a:p>
            <a:r>
              <a:rPr lang="en-US" sz="4400" dirty="0"/>
              <a:t>Analyzing the Relationship Between Ethereum Price Movements and Reddit Sentiment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DE37C8C-B9EB-77D8-9402-9E66A29BE4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/>
          <a:lstStyle/>
          <a:p>
            <a:r>
              <a:rPr lang="en-US" dirty="0"/>
              <a:t>Presented by Johnny Tran</a:t>
            </a:r>
          </a:p>
        </p:txBody>
      </p:sp>
    </p:spTree>
    <p:extLst>
      <p:ext uri="{BB962C8B-B14F-4D97-AF65-F5344CB8AC3E}">
        <p14:creationId xmlns:p14="http://schemas.microsoft.com/office/powerpoint/2010/main" val="396911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B9519-237E-F154-0775-DC5A3CDF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517082"/>
            <a:ext cx="5652464" cy="2613336"/>
          </a:xfrm>
        </p:spPr>
        <p:txBody>
          <a:bodyPr/>
          <a:lstStyle/>
          <a:p>
            <a:r>
              <a:rPr lang="en-US" dirty="0"/>
              <a:t>WELCOME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ACC6B-C7FD-0935-2022-57CCC9D64B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3200522"/>
            <a:ext cx="5652464" cy="22269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Objectives :</a:t>
            </a:r>
          </a:p>
          <a:p>
            <a:r>
              <a:rPr lang="en-US" dirty="0"/>
              <a:t>Why I chose this project</a:t>
            </a:r>
          </a:p>
          <a:p>
            <a:r>
              <a:rPr lang="en-US" dirty="0"/>
              <a:t>Data Selection and Cleaning</a:t>
            </a:r>
          </a:p>
          <a:p>
            <a:r>
              <a:rPr lang="en-US" dirty="0"/>
              <a:t>Analysis and Result</a:t>
            </a:r>
          </a:p>
          <a:p>
            <a:r>
              <a:rPr lang="en-US" dirty="0"/>
              <a:t>Key Takeaway and Next Step</a:t>
            </a:r>
          </a:p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11A2F65-347A-7CBA-F8F9-4D3031B53F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7768" y="2181701"/>
            <a:ext cx="4433036" cy="2866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579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C7084-C959-6935-0D99-455326A78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/>
          <a:lstStyle/>
          <a:p>
            <a:r>
              <a:rPr lang="en-US" dirty="0"/>
              <a:t>Why I choose This Project</a:t>
            </a:r>
          </a:p>
        </p:txBody>
      </p:sp>
    </p:spTree>
    <p:extLst>
      <p:ext uri="{BB962C8B-B14F-4D97-AF65-F5344CB8AC3E}">
        <p14:creationId xmlns:p14="http://schemas.microsoft.com/office/powerpoint/2010/main" val="1751885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89AD84B-167D-0E0C-0FAB-496039B10672}"/>
              </a:ext>
            </a:extLst>
          </p:cNvPr>
          <p:cNvSpPr txBox="1"/>
          <p:nvPr/>
        </p:nvSpPr>
        <p:spPr>
          <a:xfrm>
            <a:off x="402789" y="2094860"/>
            <a:ext cx="615848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Curious if Reddit chatter moves crypto prices.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Learning opportunity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Cleaning messy data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Exploratory analysis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b="0" dirty="0">
                <a:latin typeface="Arial" panose="020B0604020202020204" pitchFamily="34" charset="0"/>
              </a:rPr>
              <a:t>Get rich?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0E8B60D-229E-A1DF-187E-797927AC7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0308" y="2094860"/>
            <a:ext cx="4748903" cy="2668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536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A1DC5B-8FBC-A622-B707-006DE6C54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-792480"/>
            <a:ext cx="11579225" cy="792480"/>
          </a:xfrm>
        </p:spPr>
        <p:txBody>
          <a:bodyPr/>
          <a:lstStyle/>
          <a:p>
            <a:r>
              <a:rPr lang="en-US" dirty="0"/>
              <a:t>Quote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DDE55-A8FE-FE29-3A72-A5226E307E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8" y="1011936"/>
            <a:ext cx="9074511" cy="5211064"/>
          </a:xfrm>
        </p:spPr>
        <p:txBody>
          <a:bodyPr/>
          <a:lstStyle/>
          <a:p>
            <a:r>
              <a:rPr lang="en-US" dirty="0"/>
              <a:t>DATA SELECTION AND CLEANING</a:t>
            </a:r>
          </a:p>
        </p:txBody>
      </p:sp>
    </p:spTree>
    <p:extLst>
      <p:ext uri="{BB962C8B-B14F-4D97-AF65-F5344CB8AC3E}">
        <p14:creationId xmlns:p14="http://schemas.microsoft.com/office/powerpoint/2010/main" val="848145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39BE1FA-BC91-7C22-FC51-6517BC25EA05}"/>
              </a:ext>
            </a:extLst>
          </p:cNvPr>
          <p:cNvSpPr txBox="1"/>
          <p:nvPr/>
        </p:nvSpPr>
        <p:spPr>
          <a:xfrm>
            <a:off x="8138160" y="774643"/>
            <a:ext cx="361188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Data Selection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ETH price history from Kaggle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Reddit post/comments from r/Ethereum, also from Kaggle</a:t>
            </a:r>
          </a:p>
          <a:p>
            <a:endParaRPr lang="en-CA" dirty="0"/>
          </a:p>
          <a:p>
            <a:r>
              <a:rPr lang="en-CA" b="1" dirty="0"/>
              <a:t>Issues Found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Missing data in post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Post uses timestamp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Shorter time frame for post dataset vs price history.</a:t>
            </a:r>
          </a:p>
          <a:p>
            <a:endParaRPr lang="en-CA" dirty="0"/>
          </a:p>
          <a:p>
            <a:r>
              <a:rPr lang="en-CA" b="1" dirty="0"/>
              <a:t>Cleaning Step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Converted timestamp to dates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Filter date range of Eth price to fit post date range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Removed data with empty “body” from post dataset.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84C590A-F35B-6E48-05C4-F56911784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389687"/>
            <a:ext cx="7392432" cy="108600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4783F0C-AB32-4AD3-36DB-36FCAE767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1610220"/>
            <a:ext cx="5544324" cy="109552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5C5A4DB-36D2-2C38-8334-8AC48769B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076806"/>
            <a:ext cx="7649643" cy="107647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2B2456C-704D-A0B9-E5AE-E1E9D04ABE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306865"/>
            <a:ext cx="6468378" cy="1143160"/>
          </a:xfrm>
          <a:prstGeom prst="rect">
            <a:avLst/>
          </a:prstGeom>
        </p:spPr>
      </p:pic>
      <p:sp>
        <p:nvSpPr>
          <p:cNvPr id="27" name="Arrow: Right 26">
            <a:extLst>
              <a:ext uri="{FF2B5EF4-FFF2-40B4-BE49-F238E27FC236}">
                <a16:creationId xmlns:a16="http://schemas.microsoft.com/office/drawing/2014/main" id="{50F88936-C679-A9C6-CCE6-28C16762FBE8}"/>
              </a:ext>
            </a:extLst>
          </p:cNvPr>
          <p:cNvSpPr/>
          <p:nvPr/>
        </p:nvSpPr>
        <p:spPr>
          <a:xfrm rot="5400000">
            <a:off x="2327564" y="2961786"/>
            <a:ext cx="1320800" cy="858982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23ED0E-5DF4-8772-ED07-ADFE5FB1D21E}"/>
              </a:ext>
            </a:extLst>
          </p:cNvPr>
          <p:cNvSpPr txBox="1"/>
          <p:nvPr/>
        </p:nvSpPr>
        <p:spPr>
          <a:xfrm>
            <a:off x="3417455" y="3059668"/>
            <a:ext cx="1007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Cleaned</a:t>
            </a:r>
          </a:p>
        </p:txBody>
      </p:sp>
    </p:spTree>
    <p:extLst>
      <p:ext uri="{BB962C8B-B14F-4D97-AF65-F5344CB8AC3E}">
        <p14:creationId xmlns:p14="http://schemas.microsoft.com/office/powerpoint/2010/main" val="1910891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7CBDA-D856-D7AB-87CA-C6DF3479A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0430" y="125310"/>
            <a:ext cx="11022265" cy="1691943"/>
          </a:xfrm>
        </p:spPr>
        <p:txBody>
          <a:bodyPr/>
          <a:lstStyle/>
          <a:p>
            <a:r>
              <a:rPr lang="en-CA" dirty="0"/>
              <a:t>Vadar Sentiment Model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C98112-004F-E3D7-5D5D-573329624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109" y="3316090"/>
            <a:ext cx="5116945" cy="1066949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159BAFB7-9BDC-41F0-3D65-1EEE54E94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1854" y="2732587"/>
            <a:ext cx="5030841" cy="33009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Purpose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Assign a sentiment score to each Reddit post (positive, neutral, negative)</a:t>
            </a:r>
            <a:endParaRPr lang="en-US" altLang="en-US" sz="16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Why VADER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Works well on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social media text</a:t>
            </a: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Handles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slang, emojis, punctuation.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Processing Steps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Cleaned text: lowercase</a:t>
            </a: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Applied VADER → compound sentiment score (-1 to 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546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360D7-F74C-CD9E-C576-1CB8FFE877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/>
          <a:lstStyle/>
          <a:p>
            <a:r>
              <a:rPr lang="en-US" dirty="0"/>
              <a:t>Analysis and Result</a:t>
            </a:r>
          </a:p>
        </p:txBody>
      </p:sp>
    </p:spTree>
    <p:extLst>
      <p:ext uri="{BB962C8B-B14F-4D97-AF65-F5344CB8AC3E}">
        <p14:creationId xmlns:p14="http://schemas.microsoft.com/office/powerpoint/2010/main" val="1858387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F1290C7-7E59-2D27-CBD5-955FFB8ACB55}"/>
              </a:ext>
            </a:extLst>
          </p:cNvPr>
          <p:cNvSpPr txBox="1"/>
          <p:nvPr/>
        </p:nvSpPr>
        <p:spPr>
          <a:xfrm>
            <a:off x="399451" y="1490007"/>
            <a:ext cx="361188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Analysis Performed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Correlation between Reddit sentiment and ETH Price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Lag Analysis</a:t>
            </a:r>
          </a:p>
          <a:p>
            <a:endParaRPr lang="en-CA" dirty="0"/>
          </a:p>
          <a:p>
            <a:r>
              <a:rPr lang="en-CA" b="1" dirty="0"/>
              <a:t>Key Result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Overall Correlation: Moderate negative (-0.41), when ETH rises, sentiment slightly negative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No significant signal from lag analysis</a:t>
            </a:r>
          </a:p>
          <a:p>
            <a:endParaRPr lang="en-CA" sz="1600" dirty="0"/>
          </a:p>
          <a:p>
            <a:r>
              <a:rPr lang="en-CA" b="1" dirty="0"/>
              <a:t>What Next?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No direct relationship where one consistently predicts the other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Third factor?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Explore extreme sentiment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BB53686-6E73-6193-2291-90B77E4DF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661" y="446068"/>
            <a:ext cx="5905888" cy="265203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938BD4C-9D92-6682-3592-22B2DB8CF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6661" y="3759894"/>
            <a:ext cx="5905888" cy="2705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8267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8663142-7B49-6742-E52D-7C6BEC9DD497}"/>
              </a:ext>
            </a:extLst>
          </p:cNvPr>
          <p:cNvSpPr txBox="1"/>
          <p:nvPr/>
        </p:nvSpPr>
        <p:spPr>
          <a:xfrm>
            <a:off x="460248" y="118872"/>
            <a:ext cx="1173175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6000" dirty="0"/>
              <a:t>EXPLORING EXTREME SENTIMENT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85B3B8-31DF-78A1-D7A7-0A145384C3B2}"/>
              </a:ext>
            </a:extLst>
          </p:cNvPr>
          <p:cNvSpPr txBox="1"/>
          <p:nvPr/>
        </p:nvSpPr>
        <p:spPr>
          <a:xfrm>
            <a:off x="6306556" y="3586502"/>
            <a:ext cx="5775717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What I Did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Found min and max sentiment.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Analyze ETH price movement 3+ following day</a:t>
            </a:r>
          </a:p>
          <a:p>
            <a:endParaRPr lang="en-US" dirty="0"/>
          </a:p>
          <a:p>
            <a:r>
              <a:rPr lang="en-US" b="1" dirty="0"/>
              <a:t>Key Finding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Price rose regardless of extreme sentiment value.</a:t>
            </a:r>
          </a:p>
          <a:p>
            <a:endParaRPr lang="en-US" sz="1600" dirty="0"/>
          </a:p>
          <a:p>
            <a:r>
              <a:rPr lang="en-US" sz="1600" b="1" dirty="0"/>
              <a:t>Interpretation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Extreme engagement, regardless of positive/negative, often precedes strong market movement</a:t>
            </a:r>
            <a:endParaRPr lang="en-US" sz="16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2A307EF-E1BB-A713-6379-D3AF825E1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511" y="1319264"/>
            <a:ext cx="2762636" cy="254353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7315B1D-D678-6E00-51EC-800383A656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7" y="4404883"/>
            <a:ext cx="4432653" cy="208739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F1B20B8-42A7-FDA6-35D5-731062821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6085" y="1316819"/>
            <a:ext cx="5240395" cy="2087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862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76E2C-040E-4D92-F9F7-F61C47F4F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7731038" cy="3346766"/>
          </a:xfrm>
        </p:spPr>
        <p:txBody>
          <a:bodyPr/>
          <a:lstStyle/>
          <a:p>
            <a:r>
              <a:rPr lang="en-US" dirty="0"/>
              <a:t>Key Takeaway and Next Step</a:t>
            </a:r>
          </a:p>
        </p:txBody>
      </p:sp>
    </p:spTree>
    <p:extLst>
      <p:ext uri="{BB962C8B-B14F-4D97-AF65-F5344CB8AC3E}">
        <p14:creationId xmlns:p14="http://schemas.microsoft.com/office/powerpoint/2010/main" val="2236553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DE1ECCA-A4EB-566E-4518-B1DA6401496E}"/>
              </a:ext>
            </a:extLst>
          </p:cNvPr>
          <p:cNvSpPr txBox="1"/>
          <p:nvPr/>
        </p:nvSpPr>
        <p:spPr>
          <a:xfrm>
            <a:off x="5779008" y="1319126"/>
            <a:ext cx="641299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Conclusion / Key Insights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Reddit sentiment alone doesn’t reliably predict ETH price.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Extreme sentiment days often coincide with strong market movements, highlighting engagement.</a:t>
            </a:r>
          </a:p>
          <a:p>
            <a:endParaRPr lang="en-US" dirty="0"/>
          </a:p>
          <a:p>
            <a:r>
              <a:rPr lang="en-US" b="1" dirty="0"/>
              <a:t>What I Learned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Handling messy, real-world data is not easy.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Feature engineering (lag) can change insights dramatically.</a:t>
            </a:r>
          </a:p>
          <a:p>
            <a:endParaRPr lang="en-US" dirty="0"/>
          </a:p>
          <a:p>
            <a:r>
              <a:rPr lang="en-US" b="1" dirty="0"/>
              <a:t>Next Steps / If I Had More Time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More data in terms of subreddit data as well as news data.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Build predictive models combining sentiment + price + news features.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Compare sentiment across </a:t>
            </a:r>
            <a:r>
              <a:rPr lang="en-US" b="1" dirty="0"/>
              <a:t>other social platforms</a:t>
            </a:r>
            <a:r>
              <a:rPr lang="en-US" dirty="0"/>
              <a:t> (Twitter, Discord).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DD0656-DDD1-589E-D76F-DD6C6DFB4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95" y="1319126"/>
            <a:ext cx="5411057" cy="421974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52354C4-8649-D53B-75CA-11EF568E8CC1}"/>
              </a:ext>
            </a:extLst>
          </p:cNvPr>
          <p:cNvSpPr txBox="1"/>
          <p:nvPr/>
        </p:nvSpPr>
        <p:spPr>
          <a:xfrm>
            <a:off x="3663695" y="4473202"/>
            <a:ext cx="20055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b="1" dirty="0"/>
              <a:t>MORE DATA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9F90F53-17F5-64C2-B73B-B05959613324}"/>
              </a:ext>
            </a:extLst>
          </p:cNvPr>
          <p:cNvGrpSpPr/>
          <p:nvPr/>
        </p:nvGrpSpPr>
        <p:grpSpPr>
          <a:xfrm>
            <a:off x="4060008" y="4955616"/>
            <a:ext cx="1389960" cy="450720"/>
            <a:chOff x="4060008" y="4955616"/>
            <a:chExt cx="1389960" cy="45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9D92D93-F80D-0688-1934-1110F0B9E292}"/>
                    </a:ext>
                  </a:extLst>
                </p14:cNvPr>
                <p14:cNvContentPartPr/>
                <p14:nvPr/>
              </p14:nvContentPartPr>
              <p14:xfrm>
                <a:off x="4279968" y="4955616"/>
                <a:ext cx="1170000" cy="4406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9D92D93-F80D-0688-1934-1110F0B9E29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217328" y="4892976"/>
                  <a:ext cx="1295640" cy="56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C8F0F51-6B4E-7CE9-18C8-8B3B50C10CC5}"/>
                    </a:ext>
                  </a:extLst>
                </p14:cNvPr>
                <p14:cNvContentPartPr/>
                <p14:nvPr/>
              </p14:nvContentPartPr>
              <p14:xfrm>
                <a:off x="4060008" y="4964616"/>
                <a:ext cx="1353960" cy="441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C8F0F51-6B4E-7CE9-18C8-8B3B50C10CC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997008" y="4901616"/>
                  <a:ext cx="1479600" cy="567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72732094"/>
      </p:ext>
    </p:extLst>
  </p:cSld>
  <p:clrMapOvr>
    <a:masterClrMapping/>
  </p:clrMapOvr>
</p:sld>
</file>

<file path=ppt/theme/theme1.xml><?xml version="1.0" encoding="utf-8"?>
<a:theme xmlns:a="http://schemas.openxmlformats.org/drawingml/2006/main" name="BoldUnderlinesKeynote">
  <a:themeElements>
    <a:clrScheme name="NB - Keynote">
      <a:dk1>
        <a:srgbClr val="000000"/>
      </a:dk1>
      <a:lt1>
        <a:srgbClr val="FFFFFF"/>
      </a:lt1>
      <a:dk2>
        <a:srgbClr val="2C3932"/>
      </a:dk2>
      <a:lt2>
        <a:srgbClr val="FDF6EA"/>
      </a:lt2>
      <a:accent1>
        <a:srgbClr val="003A41"/>
      </a:accent1>
      <a:accent2>
        <a:srgbClr val="ECEBE3"/>
      </a:accent2>
      <a:accent3>
        <a:srgbClr val="400023"/>
      </a:accent3>
      <a:accent4>
        <a:srgbClr val="68989E"/>
      </a:accent4>
      <a:accent5>
        <a:srgbClr val="BFB360"/>
      </a:accent5>
      <a:accent6>
        <a:srgbClr val="BF6093"/>
      </a:accent6>
      <a:hlink>
        <a:srgbClr val="169C9A"/>
      </a:hlink>
      <a:folHlink>
        <a:srgbClr val="E15C3D"/>
      </a:folHlink>
    </a:clrScheme>
    <a:fontScheme name="Custom 9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old underlines keynote presentation _win32_DN_v2" id="{E18D5B16-117C-46FD-8B97-39D77F728B32}" vid="{93298573-99F9-4CB3-90C8-DB41313B575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{5607363F-8BF8-4DA9-9B6F-ED92FB91C0BC}e68b7f07-47f1-4c94-a1ca-e7d736a42cf8-TF86f18fb6-1448-4a46-9973-da86b5b4a1df94418399_win32</Template>
  <TotalTime>1284</TotalTime>
  <Words>381</Words>
  <Application>Microsoft Office PowerPoint</Application>
  <PresentationFormat>Widescreen</PresentationFormat>
  <Paragraphs>81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Light</vt:lpstr>
      <vt:lpstr>Arial</vt:lpstr>
      <vt:lpstr>BoldUnderlinesKeynote</vt:lpstr>
      <vt:lpstr>Analyzing the Relationship Between Ethereum Price Movements and Reddit Sentiment</vt:lpstr>
      <vt:lpstr>WELCOME</vt:lpstr>
      <vt:lpstr>Why I choose This Project</vt:lpstr>
      <vt:lpstr>PowerPoint Presentation</vt:lpstr>
      <vt:lpstr>Quote</vt:lpstr>
      <vt:lpstr>PowerPoint Presentation</vt:lpstr>
      <vt:lpstr>Vadar Sentiment Model</vt:lpstr>
      <vt:lpstr>Analysis and Result</vt:lpstr>
      <vt:lpstr>PowerPoint Presentation</vt:lpstr>
      <vt:lpstr>PowerPoint Presentation</vt:lpstr>
      <vt:lpstr>Key Takeaway and Next Step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Johnny TRAN</dc:creator>
  <cp:lastModifiedBy>Johnny TRAN</cp:lastModifiedBy>
  <cp:revision>6</cp:revision>
  <dcterms:created xsi:type="dcterms:W3CDTF">2026-02-19T17:19:59Z</dcterms:created>
  <dcterms:modified xsi:type="dcterms:W3CDTF">2026-02-20T15:16:48Z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