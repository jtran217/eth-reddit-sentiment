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7"/>
  </p:notesMasterIdLst>
  <p:handoutMasterIdLst>
    <p:handoutMasterId r:id="rId18"/>
  </p:handoutMasterIdLst>
  <p:sldIdLst>
    <p:sldId id="1519" r:id="rId5"/>
    <p:sldId id="1520" r:id="rId6"/>
    <p:sldId id="1499" r:id="rId7"/>
    <p:sldId id="1515" r:id="rId8"/>
    <p:sldId id="1521" r:id="rId9"/>
    <p:sldId id="1524" r:id="rId10"/>
    <p:sldId id="1525" r:id="rId11"/>
    <p:sldId id="1502" r:id="rId12"/>
    <p:sldId id="1517" r:id="rId13"/>
    <p:sldId id="1522" r:id="rId14"/>
    <p:sldId id="1511" r:id="rId15"/>
    <p:sldId id="15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18"/>
  </p:normalViewPr>
  <p:slideViewPr>
    <p:cSldViewPr snapToGrid="0">
      <p:cViewPr varScale="1">
        <p:scale>
          <a:sx n="105" d="100"/>
          <a:sy n="105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9:25:25.32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3249 1 24575,'-15'2'0,"0"1"0,0 0 0,0 1 0,0 1 0,1 0 0,-17 9 0,17-8 0,-70 36 0,62-29 0,0-2 0,-1 0 0,-47 14 0,-20 2 0,-23 5 0,-21 5 0,38-8 0,-142 38 0,162-45 0,-88 30 0,9 22 0,65-50 0,67-19 0,0 1 0,-37 14 0,-43 22 0,59-26 0,-83 43 0,97-43 0,-63 22 0,60-26 0,-55 29 0,-47 28 0,113-58 0,-1 0 0,-1-2 0,1 0 0,-1-2 0,-26 5 0,28-7 0,-1 0 0,2 1 0,-1 2 0,1 0 0,0 1 0,-28 18 0,31-17 0,0 0 0,0-2 0,-1 0 0,0-1 0,-21 5 0,17-5 0,1 0 0,0 1 0,-29 16 0,13-4 0,0-2 0,-49 16 0,43-18 0,-61 31 0,34-19-1365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9:25:27.02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 24575,'99'-2'0,"108"4"0,-188 1 0,-1 1 0,-1 1 0,1 0 0,23 11 0,24 7 0,175 63 0,-201-70 0,18 3 0,0-2 0,65 10 0,50 14 0,-40-6 0,-71-21 0,75 29 0,-85-25 0,-30-11 0,0 1 0,34 17 0,-12-3 0,1-2 0,60 19 0,18 7 0,7-2 0,-96-35 0,-1 1 0,0 2 0,52 27 0,53 30 0,-56-30 0,-38-20 0,0-2 0,51 12 0,-48-15 0,80 34 0,-65-16 0,-38-19 0,1-1 0,1 0 0,0-2 0,51 14 0,-30-13 0,75 31 0,15 3 0,-110-37 0,-1 2 0,35 16 0,33 13 0,85 13-1365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>
            <a:normAutofit/>
          </a:bodyPr>
          <a:lstStyle/>
          <a:p>
            <a:r>
              <a:rPr lang="en-US" sz="4400" dirty="0"/>
              <a:t>Analyzing the Relationship Between Ethereum Price Movements and Reddit Sentiment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DE37C8C-B9EB-77D8-9402-9E66A29B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/>
          <a:lstStyle/>
          <a:p>
            <a:r>
              <a:rPr lang="en-US" dirty="0"/>
              <a:t>Presented by Johnny Tran</a:t>
            </a:r>
          </a:p>
        </p:txBody>
      </p:sp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7082"/>
            <a:ext cx="5652464" cy="2613336"/>
          </a:xfrm>
        </p:spPr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CC6B-C7FD-0935-2022-57CCC9D6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200522"/>
            <a:ext cx="5652464" cy="2226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Objectives :</a:t>
            </a:r>
          </a:p>
          <a:p>
            <a:r>
              <a:rPr lang="en-US" dirty="0"/>
              <a:t>Why I chose this project</a:t>
            </a:r>
          </a:p>
          <a:p>
            <a:r>
              <a:rPr lang="en-US" dirty="0"/>
              <a:t>Data Selection and Cleaning</a:t>
            </a:r>
          </a:p>
          <a:p>
            <a:r>
              <a:rPr lang="en-US" dirty="0"/>
              <a:t>Analysis and Result</a:t>
            </a:r>
          </a:p>
          <a:p>
            <a:r>
              <a:rPr lang="en-US" dirty="0"/>
              <a:t>Key Takeaway and Next Step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1A2F65-347A-7CBA-F8F9-4D3031B53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768" y="2181701"/>
            <a:ext cx="4433036" cy="286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/>
          <a:lstStyle/>
          <a:p>
            <a:r>
              <a:rPr lang="en-US" dirty="0"/>
              <a:t>Why I choose This Project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89AD84B-167D-0E0C-0FAB-496039B10672}"/>
              </a:ext>
            </a:extLst>
          </p:cNvPr>
          <p:cNvSpPr txBox="1"/>
          <p:nvPr/>
        </p:nvSpPr>
        <p:spPr>
          <a:xfrm>
            <a:off x="402789" y="2094860"/>
            <a:ext cx="61584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Curious if Reddit chatter moves crypto prices.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opportunity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 messy data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analysis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0" dirty="0">
                <a:latin typeface="Arial" panose="020B0604020202020204" pitchFamily="34" charset="0"/>
              </a:rPr>
              <a:t>Get rich?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E8B60D-229E-A1DF-187E-797927AC7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308" y="2094860"/>
            <a:ext cx="4748903" cy="266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A1DC5B-8FBC-A622-B707-006DE6C5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-792480"/>
            <a:ext cx="11579225" cy="792480"/>
          </a:xfrm>
        </p:spPr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DDE55-A8FE-FE29-3A72-A5226E307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1011936"/>
            <a:ext cx="9074511" cy="5211064"/>
          </a:xfrm>
        </p:spPr>
        <p:txBody>
          <a:bodyPr/>
          <a:lstStyle/>
          <a:p>
            <a:r>
              <a:rPr lang="en-US" dirty="0"/>
              <a:t>DATA SELECTION AND CLEANING</a:t>
            </a:r>
          </a:p>
        </p:txBody>
      </p:sp>
    </p:spTree>
    <p:extLst>
      <p:ext uri="{BB962C8B-B14F-4D97-AF65-F5344CB8AC3E}">
        <p14:creationId xmlns:p14="http://schemas.microsoft.com/office/powerpoint/2010/main" val="84814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39BE1FA-BC91-7C22-FC51-6517BC25EA05}"/>
              </a:ext>
            </a:extLst>
          </p:cNvPr>
          <p:cNvSpPr txBox="1"/>
          <p:nvPr/>
        </p:nvSpPr>
        <p:spPr>
          <a:xfrm>
            <a:off x="8138160" y="774643"/>
            <a:ext cx="3611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Data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ETH price history from Kaggle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Reddit post/comments from r/Ethereum, also from Kaggle</a:t>
            </a:r>
          </a:p>
          <a:p>
            <a:endParaRPr lang="en-CA" dirty="0"/>
          </a:p>
          <a:p>
            <a:r>
              <a:rPr lang="en-CA" b="1" dirty="0"/>
              <a:t>Issues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Missing data in post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Post uses timestamp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Shorter time frame for post dataset vs price history.</a:t>
            </a:r>
          </a:p>
          <a:p>
            <a:endParaRPr lang="en-CA" dirty="0"/>
          </a:p>
          <a:p>
            <a:r>
              <a:rPr lang="en-CA" b="1" dirty="0"/>
              <a:t>Cleaning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Converted timestamp to 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Filter date range of Eth price to fit post date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Removed data with empty “body” from post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4C590A-F35B-6E48-05C4-F56911784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389687"/>
            <a:ext cx="7392432" cy="10860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783F0C-AB32-4AD3-36DB-36FCAE767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610220"/>
            <a:ext cx="5544324" cy="1095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5C5A4DB-36D2-2C38-8334-8AC48769B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6806"/>
            <a:ext cx="7649643" cy="10764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B2456C-704D-A0B9-E5AE-E1E9D04AB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306865"/>
            <a:ext cx="6468378" cy="1143160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50F88936-C679-A9C6-CCE6-28C16762FBE8}"/>
              </a:ext>
            </a:extLst>
          </p:cNvPr>
          <p:cNvSpPr/>
          <p:nvPr/>
        </p:nvSpPr>
        <p:spPr>
          <a:xfrm rot="5400000">
            <a:off x="2327564" y="2961786"/>
            <a:ext cx="1320800" cy="85898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23ED0E-5DF4-8772-ED07-ADFE5FB1D21E}"/>
              </a:ext>
            </a:extLst>
          </p:cNvPr>
          <p:cNvSpPr txBox="1"/>
          <p:nvPr/>
        </p:nvSpPr>
        <p:spPr>
          <a:xfrm>
            <a:off x="3417455" y="3059668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Cleaned</a:t>
            </a:r>
          </a:p>
        </p:txBody>
      </p:sp>
    </p:spTree>
    <p:extLst>
      <p:ext uri="{BB962C8B-B14F-4D97-AF65-F5344CB8AC3E}">
        <p14:creationId xmlns:p14="http://schemas.microsoft.com/office/powerpoint/2010/main" val="191089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CBDA-D856-D7AB-87CA-C6DF3479A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430" y="125310"/>
            <a:ext cx="11022265" cy="1691943"/>
          </a:xfrm>
        </p:spPr>
        <p:txBody>
          <a:bodyPr/>
          <a:lstStyle/>
          <a:p>
            <a:r>
              <a:rPr lang="en-CA" dirty="0"/>
              <a:t>Vadar Sentiment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C98112-004F-E3D7-5D5D-57332962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09" y="3316090"/>
            <a:ext cx="5116945" cy="106694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59BAFB7-9BDC-41F0-3D65-1EEE54E94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1854" y="2732587"/>
            <a:ext cx="5030841" cy="330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a sentiment score to each Reddit post (positive, neutral, negative)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VADER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on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text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slang, emojis, punctuation.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 Steps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text: lowercase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VADER → compound sentiment score (-1 to +1)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546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/>
          <a:lstStyle/>
          <a:p>
            <a:r>
              <a:rPr lang="en-US" dirty="0"/>
              <a:t>Analysis and Result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F1290C7-7E59-2D27-CBD5-955FFB8ACB55}"/>
              </a:ext>
            </a:extLst>
          </p:cNvPr>
          <p:cNvSpPr txBox="1"/>
          <p:nvPr/>
        </p:nvSpPr>
        <p:spPr>
          <a:xfrm>
            <a:off x="399451" y="1490007"/>
            <a:ext cx="36118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Analysis Performed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Correlation between Reddit sentiment and ETH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Lag Analysis</a:t>
            </a:r>
          </a:p>
          <a:p>
            <a:endParaRPr lang="en-CA" dirty="0"/>
          </a:p>
          <a:p>
            <a:r>
              <a:rPr lang="en-CA" b="1" dirty="0"/>
              <a:t>Key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Overall Correlation: Moderate negative (-0.41), when ETH rises, sentiment slightly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No significant signal from lag analysis</a:t>
            </a:r>
          </a:p>
          <a:p>
            <a:endParaRPr lang="en-CA" sz="1600" dirty="0"/>
          </a:p>
          <a:p>
            <a:r>
              <a:rPr lang="en-CA" b="1" dirty="0"/>
              <a:t>What Next?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No direct relationship where one consistently predicts the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Third factor?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Explore extreme sentiment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B53686-6E73-6193-2291-90B77E4DF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661" y="446068"/>
            <a:ext cx="5905888" cy="26520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38BD4C-9D92-6682-3592-22B2DB8CF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661" y="3759894"/>
            <a:ext cx="5905888" cy="270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8663142-7B49-6742-E52D-7C6BEC9DD497}"/>
              </a:ext>
            </a:extLst>
          </p:cNvPr>
          <p:cNvSpPr txBox="1"/>
          <p:nvPr/>
        </p:nvSpPr>
        <p:spPr>
          <a:xfrm>
            <a:off x="460248" y="118872"/>
            <a:ext cx="117317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0" dirty="0"/>
              <a:t>EXPLORING EXTREME SENTIMENT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5B3B8-31DF-78A1-D7A7-0A145384C3B2}"/>
              </a:ext>
            </a:extLst>
          </p:cNvPr>
          <p:cNvSpPr txBox="1"/>
          <p:nvPr/>
        </p:nvSpPr>
        <p:spPr>
          <a:xfrm>
            <a:off x="6306556" y="3586502"/>
            <a:ext cx="577571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 Did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Found min and max sentiment.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 ETH price movement 3+ following day</a:t>
            </a:r>
          </a:p>
          <a:p>
            <a:endParaRPr lang="en-US" dirty="0"/>
          </a:p>
          <a:p>
            <a:r>
              <a:rPr lang="en-US" b="1" dirty="0"/>
              <a:t>Key Finding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Price rose regardless of extreme sentiment value.</a:t>
            </a:r>
          </a:p>
          <a:p>
            <a:endParaRPr lang="en-US" sz="1600" dirty="0"/>
          </a:p>
          <a:p>
            <a:r>
              <a:rPr lang="en-US" sz="1600" b="1" dirty="0"/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Extreme engagement, regardless of positive/negative, often precedes strong market movement</a:t>
            </a:r>
            <a:endParaRPr lang="en-US" sz="16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A307EF-E1BB-A713-6379-D3AF825E1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1" y="1319264"/>
            <a:ext cx="2762636" cy="25435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315B1D-D678-6E00-51EC-800383A65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" y="4404883"/>
            <a:ext cx="4432653" cy="20873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1B20B8-42A7-FDA6-35D5-731062821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085" y="1316819"/>
            <a:ext cx="5240395" cy="208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62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/>
          <a:lstStyle/>
          <a:p>
            <a:r>
              <a:rPr lang="en-US" dirty="0"/>
              <a:t>Key Takeaway and Next Step</a:t>
            </a:r>
          </a:p>
        </p:txBody>
      </p:sp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DE1ECCA-A4EB-566E-4518-B1DA6401496E}"/>
              </a:ext>
            </a:extLst>
          </p:cNvPr>
          <p:cNvSpPr txBox="1"/>
          <p:nvPr/>
        </p:nvSpPr>
        <p:spPr>
          <a:xfrm>
            <a:off x="5779008" y="382905"/>
            <a:ext cx="64129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 / Key Insights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Reddit sentiment alone doesn’t reliably predict ETH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Extreme sentiment days often coincide with strong market movements, highlighting engagement.</a:t>
            </a:r>
          </a:p>
          <a:p>
            <a:endParaRPr lang="en-US" dirty="0"/>
          </a:p>
          <a:p>
            <a:r>
              <a:rPr lang="en-US" b="1" dirty="0"/>
              <a:t>What I Learned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Handling messy, real-world data is crucial and not easy.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engineering (lag) can change insights dramatically.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Interpreting results requires both quantitative analysis and domain knowledge.</a:t>
            </a:r>
          </a:p>
          <a:p>
            <a:endParaRPr lang="en-US" dirty="0"/>
          </a:p>
          <a:p>
            <a:r>
              <a:rPr lang="en-US" b="1" dirty="0"/>
              <a:t>Next Steps / If I Had More Time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 subreddit topics to see if specific discussions drive stronger patterns as well as use more subreddit data's.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predictive models combining sentiment + price + news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sentiment across </a:t>
            </a:r>
            <a:r>
              <a:rPr lang="en-US" b="1" dirty="0"/>
              <a:t>other social platforms</a:t>
            </a:r>
            <a:r>
              <a:rPr lang="en-US" dirty="0"/>
              <a:t> (Twitter, Discord).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DD0656-DDD1-589E-D76F-DD6C6DFB4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95" y="1319126"/>
            <a:ext cx="5411057" cy="42197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2354C4-8649-D53B-75CA-11EF568E8CC1}"/>
              </a:ext>
            </a:extLst>
          </p:cNvPr>
          <p:cNvSpPr txBox="1"/>
          <p:nvPr/>
        </p:nvSpPr>
        <p:spPr>
          <a:xfrm>
            <a:off x="3663695" y="4473202"/>
            <a:ext cx="2005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MORE DATA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F90F53-17F5-64C2-B73B-B05959613324}"/>
              </a:ext>
            </a:extLst>
          </p:cNvPr>
          <p:cNvGrpSpPr/>
          <p:nvPr/>
        </p:nvGrpSpPr>
        <p:grpSpPr>
          <a:xfrm>
            <a:off x="4060008" y="4955616"/>
            <a:ext cx="1389960" cy="450720"/>
            <a:chOff x="4060008" y="4955616"/>
            <a:chExt cx="1389960" cy="45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D92D93-F80D-0688-1934-1110F0B9E292}"/>
                    </a:ext>
                  </a:extLst>
                </p14:cNvPr>
                <p14:cNvContentPartPr/>
                <p14:nvPr/>
              </p14:nvContentPartPr>
              <p14:xfrm>
                <a:off x="4279968" y="4955616"/>
                <a:ext cx="1170000" cy="440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D92D93-F80D-0688-1934-1110F0B9E29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17328" y="4892976"/>
                  <a:ext cx="129564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8F0F51-6B4E-7CE9-18C8-8B3B50C10CC5}"/>
                    </a:ext>
                  </a:extLst>
                </p14:cNvPr>
                <p14:cNvContentPartPr/>
                <p14:nvPr/>
              </p14:nvContentPartPr>
              <p14:xfrm>
                <a:off x="4060008" y="4964616"/>
                <a:ext cx="1353960" cy="441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8F0F51-6B4E-7CE9-18C8-8B3B50C10C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97008" y="4901616"/>
                  <a:ext cx="1479600" cy="56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{5607363F-8BF8-4DA9-9B6F-ED92FB91C0BC}e68b7f07-47f1-4c94-a1ca-e7d736a42cf8-TF86f18fb6-1448-4a46-9973-da86b5b4a1df94418399_win32</Template>
  <TotalTime>1283</TotalTime>
  <Words>399</Words>
  <Application>Microsoft Office PowerPoint</Application>
  <PresentationFormat>Widescreen</PresentationFormat>
  <Paragraphs>82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Light</vt:lpstr>
      <vt:lpstr>Arial</vt:lpstr>
      <vt:lpstr>BoldUnderlinesKeynote</vt:lpstr>
      <vt:lpstr>Analyzing the Relationship Between Ethereum Price Movements and Reddit Sentiment</vt:lpstr>
      <vt:lpstr>WELCOME</vt:lpstr>
      <vt:lpstr>Why I choose This Project</vt:lpstr>
      <vt:lpstr>PowerPoint Presentation</vt:lpstr>
      <vt:lpstr>Quote</vt:lpstr>
      <vt:lpstr>PowerPoint Presentation</vt:lpstr>
      <vt:lpstr>Vadar Sentiment Model</vt:lpstr>
      <vt:lpstr>Analysis and Result</vt:lpstr>
      <vt:lpstr>PowerPoint Presentation</vt:lpstr>
      <vt:lpstr>PowerPoint Presentation</vt:lpstr>
      <vt:lpstr>Key Takeaway and Next Step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TRAN</dc:creator>
  <cp:lastModifiedBy>Johnny TRAN</cp:lastModifiedBy>
  <cp:revision>4</cp:revision>
  <dcterms:created xsi:type="dcterms:W3CDTF">2026-02-19T17:19:59Z</dcterms:created>
  <dcterms:modified xsi:type="dcterms:W3CDTF">2026-02-20T14:43:03Z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